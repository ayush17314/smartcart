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E3A8A"/>
                </a:solidFill>
                <a:latin typeface="Calibri"/>
              </a:defRPr>
            </a:pPr>
            <a:r>
              <a:t>INDIAN INSTITUTE OF INFORMATION TECHNOLOGY VADODARA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4748B"/>
                </a:solidFill>
                <a:latin typeface="Calibri"/>
              </a:defRPr>
            </a:pPr>
            <a:r>
              <a:t>Project Presentation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F172A"/>
                </a:solidFill>
                <a:latin typeface="Calibri"/>
              </a:defRPr>
            </a:pPr>
            <a:r>
              <a:t>SmartCart: Distributed E-Commerce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2563EB"/>
                </a:solidFill>
                <a:latin typeface="Calibri"/>
              </a:defRPr>
            </a:pPr>
            <a:r>
              <a:t>A Polyglot Microservices Web Application with Razorpay Payment Gateway Integration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3108960"/>
            <a:ext cx="8168335" cy="2377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3291840"/>
            <a:ext cx="76196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Presented by: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Ayush Dubey (Group 03 Lead, TeamID 03, Enrollment ID: 202351000)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Guide: Course Faculty &amp; Lab Coordinator</a:t>
            </a:r>
          </a:p>
          <a:p>
            <a:pPr>
              <a:spcAft>
                <a:spcPts val="1200"/>
              </a:spcAft>
              <a:defRPr sz="1200">
                <a:solidFill>
                  <a:srgbClr val="1E293B"/>
                </a:solidFill>
              </a:defRPr>
            </a:pPr>
            <a:r>
              <a:t>Department: Department of Computer Science &amp; Engineering</a:t>
            </a:r>
          </a:p>
          <a:p>
            <a:pPr>
              <a:defRPr b="1" sz="1100">
                <a:solidFill>
                  <a:srgbClr val="2563EB"/>
                </a:solidFill>
              </a:defRPr>
            </a:pPr>
            <a:r>
              <a:t>CS 545 Software Engineering  •  MCA Second Year  •  Autumn 2026-27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SMARTCART / PROJECT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Problem and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DC2626"/>
                </a:solidFill>
                <a:latin typeface="Calibri"/>
              </a:defRPr>
            </a:pPr>
            <a:r>
              <a:t>CURRENT PROBLEM</a:t>
            </a:r>
          </a:p>
          <a:p>
            <a:pPr>
              <a:spcAft>
                <a:spcPts val="1200"/>
              </a:spcAft>
              <a:defRPr b="1" sz="1150">
                <a:solidFill>
                  <a:srgbClr val="0F172A"/>
                </a:solidFill>
                <a:latin typeface="Calibri"/>
              </a:defRPr>
            </a:pPr>
            <a:r>
              <a:t>• Single Point of Failure in Monoliths: </a:t>
            </a:r>
            <a:r>
              <a:rPr b="0" sz="1100">
                <a:solidFill>
                  <a:srgbClr val="1E293B"/>
                </a:solidFill>
              </a:rPr>
              <a:t>Traditional e-commerce backends couple cart, catalog, and billing into a single database; high traffic during flash sales creates severe bottlenecks and system-wide outages.</a:t>
            </a:r>
          </a:p>
          <a:p>
            <a:pPr>
              <a:spcAft>
                <a:spcPts val="1200"/>
              </a:spcAft>
              <a:defRPr b="1" sz="1150">
                <a:solidFill>
                  <a:srgbClr val="0F172A"/>
                </a:solidFill>
                <a:latin typeface="Calibri"/>
              </a:defRPr>
            </a:pPr>
            <a:r>
              <a:t>• Vulnerabilities in Cart &amp; Payments: </a:t>
            </a:r>
            <a:r>
              <a:rPr b="0" sz="1100">
                <a:solidFill>
                  <a:srgbClr val="1E293B"/>
                </a:solidFill>
              </a:rPr>
              <a:t>Client-side price calculations allow cart tampering, while unverified third-party payment callbacks cause fraudulent orders and inventory loss.</a:t>
            </a:r>
          </a:p>
          <a:p>
            <a:pPr>
              <a:spcAft>
                <a:spcPts val="1200"/>
              </a:spcAft>
              <a:defRPr b="1" sz="1150">
                <a:solidFill>
                  <a:srgbClr val="0F172A"/>
                </a:solidFill>
                <a:latin typeface="Calibri"/>
              </a:defRPr>
            </a:pPr>
            <a:r>
              <a:t>• Slow, Error-Prone Order Operations: </a:t>
            </a:r>
            <a:r>
              <a:rPr b="0" sz="1100">
                <a:solidFill>
                  <a:srgbClr val="1E293B"/>
                </a:solidFill>
              </a:rPr>
              <a:t>Tracking orders across disparate legacy modules, uncoordinated stock deductions, and manual return evaluations lead to stock discrepancies and customer dissatisfaction.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54480"/>
            <a:ext cx="512064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16A34A"/>
                </a:solidFill>
                <a:latin typeface="Calibri"/>
              </a:defRPr>
            </a:pPr>
            <a:r>
              <a:t>PROJECT OBJECTIVES</a:t>
            </a:r>
          </a:p>
          <a:p>
            <a:pPr>
              <a:spcAft>
                <a:spcPts val="1200"/>
              </a:spcAft>
              <a:defRPr b="1" sz="1150">
                <a:solidFill>
                  <a:srgbClr val="0F172A"/>
                </a:solidFill>
                <a:latin typeface="Calibri"/>
              </a:defRPr>
            </a:pPr>
            <a:r>
              <a:t>• Polyglot Microservices Architecture: </a:t>
            </a:r>
            <a:r>
              <a:rPr b="0" sz="1100">
                <a:solidFill>
                  <a:srgbClr val="1E293B"/>
                </a:solidFill>
              </a:rPr>
              <a:t>Deconstruct e-commerce capabilities into 8 autonomous microservices (Auth, Product, Cart, Wishlist, Order, Payment, Notification, API Gateway) with isolated databases.</a:t>
            </a:r>
          </a:p>
          <a:p>
            <a:pPr>
              <a:spcAft>
                <a:spcPts val="1200"/>
              </a:spcAft>
              <a:defRPr b="1" sz="1150">
                <a:solidFill>
                  <a:srgbClr val="0F172A"/>
                </a:solidFill>
                <a:latin typeface="Calibri"/>
              </a:defRPr>
            </a:pPr>
            <a:r>
              <a:t>• Atomic Checkout Saga with Rollbacks: </a:t>
            </a:r>
            <a:r>
              <a:rPr b="0" sz="1100">
                <a:solidFill>
                  <a:srgbClr val="1E293B"/>
                </a:solidFill>
              </a:rPr>
              <a:t>Implement an atomic checkout workflow (placeOrder) that reserves warehouse stock, verifies coupons, and triggers compensatory stock rollbacks if payments fail.</a:t>
            </a:r>
          </a:p>
          <a:p>
            <a:pPr>
              <a:spcAft>
                <a:spcPts val="1200"/>
              </a:spcAft>
              <a:defRPr b="1" sz="1150">
                <a:solidFill>
                  <a:srgbClr val="0F172A"/>
                </a:solidFill>
                <a:latin typeface="Calibri"/>
              </a:defRPr>
            </a:pPr>
            <a:r>
              <a:t>• Cryptographic Payments &amp; Edge Resilience: </a:t>
            </a:r>
            <a:r>
              <a:rPr b="0" sz="1100">
                <a:solidFill>
                  <a:srgbClr val="1E293B"/>
                </a:solidFill>
              </a:rPr>
              <a:t>Integrate Razorpay Orders (UPI/Cards in Paise) with HMAC-SHA256 signature verification, durable MySQL idempotency to block duplicate orders, and dynamic ETag caching.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END-TO-END SHOPPING &amp; FULFILLMENT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A customer discovers products, manages cart items, and completes verified checkout in a responsive web application.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328416" cy="3383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2834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2563EB"/>
                </a:solidFill>
                <a:latin typeface="Calibri"/>
              </a:defRPr>
            </a:pPr>
            <a:r>
              <a:t>01</a:t>
            </a:r>
          </a:p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Sign in &amp; Discover</a:t>
            </a:r>
          </a:p>
          <a:p>
            <a:pPr>
              <a:spcAft>
                <a:spcPts val="1000"/>
              </a:spcAft>
              <a:defRPr sz="1100" b="1">
                <a:solidFill>
                  <a:srgbClr val="64748B"/>
                </a:solidFill>
                <a:latin typeface="Calibri"/>
              </a:defRPr>
            </a:pPr>
            <a:r>
              <a:t>Authenticate customer / staff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JWT session tokens securely stored in HttpOnly SameSite=Lax cookies; browses catalog with full-text search, category filters, and dynamic 304 ETag caching.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920240"/>
            <a:ext cx="3328416" cy="3383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54296" y="2103120"/>
            <a:ext cx="2834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2563EB"/>
                </a:solidFill>
                <a:latin typeface="Calibri"/>
              </a:defRPr>
            </a:pPr>
            <a:r>
              <a:t>02</a:t>
            </a:r>
          </a:p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Manage Cart &amp; Checkout</a:t>
            </a:r>
          </a:p>
          <a:p>
            <a:pPr>
              <a:spcAft>
                <a:spcPts val="1000"/>
              </a:spcAft>
              <a:defRPr sz="1100" b="1">
                <a:solidFill>
                  <a:srgbClr val="64748B"/>
                </a:solidFill>
                <a:latin typeface="Calibri"/>
              </a:defRPr>
            </a:pPr>
            <a:r>
              <a:t>Choose items and apply coupons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Server-authoritative cart subtotal computation preventing client price tampering; validates stock availability and evaluates promotional discount codes.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920240"/>
            <a:ext cx="3328416" cy="3383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2" y="2103120"/>
            <a:ext cx="2834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2563EB"/>
                </a:solidFill>
                <a:latin typeface="Calibri"/>
              </a:defRPr>
            </a:pPr>
            <a:r>
              <a:t>03</a:t>
            </a:r>
          </a:p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Pay &amp; Track Order</a:t>
            </a:r>
          </a:p>
          <a:p>
            <a:pPr>
              <a:spcAft>
                <a:spcPts val="1000"/>
              </a:spcAft>
              <a:defRPr sz="1100" b="1">
                <a:solidFill>
                  <a:srgbClr val="64748B"/>
                </a:solidFill>
                <a:latin typeface="Calibri"/>
              </a:defRPr>
            </a:pPr>
            <a:r>
              <a:t>Validate payment &amp; track shipment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Multi-channel Razorpay checkout (UPI/Cards) in Indian Paise; validates HMAC-SHA256 signatures; advances order state (Confirmed -&gt; Shipped -&gt; Delivered).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577840"/>
            <a:ext cx="10728655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66928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Calibri"/>
              </a:defRPr>
            </a:pPr>
            <a:r>
              <a:t>Output: </a:t>
            </a:r>
            <a:r>
              <a:rPr b="0" sz="1150">
                <a:solidFill>
                  <a:srgbClr val="1E293B"/>
                </a:solidFill>
              </a:rPr>
              <a:t>An itemized order confirmation receipt, transactional email notifications via Resend API, real-time shipment milestone tracking, and a 30-day return policy evaluation workflow.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POLYGLOT MICROSERVICES 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Calibri"/>
              </a:defRPr>
            </a:pPr>
            <a:r>
              <a:t>A decoupled architecture that isolates business domains and scales horizontally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303520" cy="1325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937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Storefront / Client (Port 3000)</a:t>
            </a:r>
          </a:p>
          <a:p>
            <a:pPr>
              <a:spcAft>
                <a:spcPts val="200"/>
              </a:spcAft>
              <a:defRPr sz="1050" b="1">
                <a:solidFill>
                  <a:srgbClr val="2563EB"/>
                </a:solidFill>
                <a:latin typeface="Calibri"/>
              </a:defRPr>
            </a:pPr>
            <a:r>
              <a:t>Next.js 15, React 19, Tailwind CSS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Customer storefront, cart drawer, checkout portal, and role-based staff admin panels with HttpOnly session cookies.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5303520" cy="1325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4937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Central API Gateway (Port 4000)</a:t>
            </a:r>
          </a:p>
          <a:p>
            <a:pPr>
              <a:spcAft>
                <a:spcPts val="200"/>
              </a:spcAft>
              <a:defRPr sz="1050" b="1">
                <a:solidFill>
                  <a:srgbClr val="2563EB"/>
                </a:solidFill>
                <a:latin typeface="Calibri"/>
              </a:defRPr>
            </a:pPr>
            <a:r>
              <a:t>Reverse Proxy, Helmet &amp; AJV Guard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Sliding-window rate limiting (120 req/60s), durable MySQL idempotency key checks, and uniform RFC 7807 error standardization.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09160"/>
            <a:ext cx="5303520" cy="1325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800600"/>
            <a:ext cx="4937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Microservices &amp; DBs (Ports 4001–4007)</a:t>
            </a:r>
          </a:p>
          <a:p>
            <a:pPr>
              <a:spcAft>
                <a:spcPts val="200"/>
              </a:spcAft>
              <a:defRPr sz="1050" b="1">
                <a:solidFill>
                  <a:srgbClr val="2563EB"/>
                </a:solidFill>
                <a:latin typeface="Calibri"/>
              </a:defRPr>
            </a:pPr>
            <a:r>
              <a:t>Express.js &amp; Independent MongoDB Stores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Auth (4001), Product (4002), Cart (4003), Wishlist (4004), Order (4005), Payment (4006), and Notification (4007).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91640"/>
            <a:ext cx="5150815" cy="4343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martcart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83080"/>
            <a:ext cx="4967935" cy="329270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0" y="6035040"/>
            <a:ext cx="49679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64748B"/>
                </a:solidFill>
                <a:latin typeface="Calibri"/>
              </a:defRPr>
            </a:pPr>
            <a:r>
              <a:t>Request Journey: Gateway → Order Saga → Stock Hold → Razorpay → Resend Email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FULL STACK SPECIFICATIONS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Technology and implementation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728655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91840"/>
                <a:gridCol w="5425135"/>
              </a:tblGrid>
              <a:tr h="5181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LAYER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SAMPLE CHOICE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Frontend (BFF)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Next.js 15, React 19, Tailwind CSS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Server-Side Rendering (SSR), App Router, responsive storefront, and HttpOnly session cookies.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API Gateway Edge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Node.js, Express, Helmet, AJV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Centralized routing, sliding-window rate limiting (120 req/60s), schema guard, and circuit breaking.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Domain Microservices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Express.js REST &amp; GraphQL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 autonomous microservices (Auth, Catalog, Cart, Wishlist, Order Saga, Payment, Notification).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Persistence Stores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MongoDB Community 7.0 &amp; MySQL 8.4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Zero-shared databases: MongoDB collections per service + MySQL for durable edge idempotency.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Partner Integrations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Razorpay REST API &amp; Resend Mailer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UPI/Card digital checkouts in Indian Paise, HMAC-SHA256 signature verification, and transactional emails.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754880"/>
            <a:ext cx="10728655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63EB"/>
                </a:solidFill>
                <a:latin typeface="Calibri"/>
              </a:defRPr>
            </a:pPr>
            <a:r>
              <a:t>One technical point to discuss: Durable Idempotency &amp; Distributed Rollback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1. Duplicate Order Prevention: Clients pass an Idempotency-Key header on checkout. The API Gateway computes a SHA-256 hash of the payload and queries the MySQL api_idempotency table. Repeated requests return cached responses with Idempotency-Replayed: true, completely preventing double-billing on network retries.</a:t>
            </a:r>
          </a:p>
          <a:p>
            <a:pPr>
              <a:defRPr sz="1050">
                <a:solidFill>
                  <a:srgbClr val="1E293B"/>
                </a:solidFill>
                <a:latin typeface="Calibri"/>
              </a:defRPr>
            </a:pPr>
            <a:r>
              <a:t>2. Compensatory Stock Rollback: During order placement, Product Service inventory is locked atomically. If Razorpay payment fails or signature validation mismatches, the Order Service executes a compensatory REST call to release the reserved stock immediately.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OPERATIONAL APPLICATION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Screenshots and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Calibri"/>
              </a:defRPr>
            </a:pPr>
            <a:r>
              <a:t>Live validation of core storefront and administrative fulfillment workflows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20640" cy="3931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01  Storefront Catalog &amp; Razorpay Checkout</a:t>
            </a:r>
          </a:p>
          <a:p>
            <a:br/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t>Demonstrates instant catalog filtering, dynamic ETag validation (304), persistent carts, and Razorpay modal checkout.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331720"/>
            <a:ext cx="475488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[ Storefront UI / Next.js 15 Web Application ]</a:t>
            </a:r>
            <a:br/>
            <a:br/>
            <a:r>
              <a:t>• Dynamic product grid with rating badges &amp; stock status</a:t>
            </a:r>
            <a:br/>
            <a:r>
              <a:t>• Slide-over interactive cart drawer with live subtotal</a:t>
            </a:r>
            <a:br/>
            <a:r>
              <a:t>• Razorpay Standard Checkout popup supporting UPI &amp; Cards</a:t>
            </a:r>
            <a:br/>
            <a:r>
              <a:t>• Server-validated coupon promotional discounts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91640"/>
            <a:ext cx="5120640" cy="3931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02  Order Tracking &amp; Staff Inventory Workbench</a:t>
            </a:r>
          </a:p>
          <a:p>
            <a:br/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t>Demonstrates immutable inventory stockHistory[], courier tracking updates, and 30-day return claims.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331720"/>
            <a:ext cx="475488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[ Customer Tracking &amp; Admin Workbench ]</a:t>
            </a:r>
            <a:br/>
            <a:br/>
            <a:r>
              <a:t>• Delivery timeline stepper (Confirmed → Shipped → Delivered)</a:t>
            </a:r>
            <a:br/>
            <a:r>
              <a:t>• Staff stock management table with mandatory reason prompt</a:t>
            </a:r>
            <a:br/>
            <a:r>
              <a:t>• Automated return policy verification (30-day window check)</a:t>
            </a:r>
            <a:br/>
            <a:r>
              <a:t>• Refund authorization dashboard triggering Razorpay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760720"/>
            <a:ext cx="1069848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8064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Demo sequence:  </a:t>
            </a:r>
            <a:r>
              <a:rPr b="1" sz="1100">
                <a:solidFill>
                  <a:srgbClr val="0F172A"/>
                </a:solidFill>
              </a:rPr>
              <a:t>Login &amp; Authenticate   →   Search Products   →   Add to Cart   →   Razorpay Payment (UPI)   →   Verify Order Tracking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VERIFICATION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Testing and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Calibri"/>
              </a:defRPr>
            </a:pPr>
            <a:r>
              <a:t>Verification evidence that core distributed microservice functions work reliably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9164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389120"/>
                <a:gridCol w="3779215"/>
              </a:tblGrid>
              <a:tr h="10972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CASE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EXPECTED BEHAVIOR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OBSERVED RESULT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User Authentication &amp; RBAC Session Security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Bcrypt credentials checked; issue JWT strictly in HttpOnly SameSite=Lax cookie. Reject unauthenticated/unauthorized access with RFC 7807 problem details (HTTP 401 / 403).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PASSED (100%)</a:t>
                      </a:r>
                      <a:br/>
                      <a:r>
                        <a:t>Token successfully set in HttpOnly cookie; unprivileged role access returns HTTP 403 Forbidden with uniform problem details payload.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Checkout Saga &amp; Stock Rollback on Payment Failure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Atomically reserve warehouse stock during order placement; if Razorpay payment is declined or aborted, trigger compensatory REST call to release reserved stock back.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PASSED (100%)</a:t>
                      </a:r>
                      <a:br/>
                      <a:r>
                        <a:t>Stock decremented upon checkout; intentional payment failure successfully invoked compensatory rollback, restoring warehouse stock count.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Razorpay Payment Signature Verification (HMAC)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Compute HMAC-SHA256(order_id + '|' + payment_id, SECRET). Match signature string to confirm payment. Tampered signatures must immediately set payment status to FAILED.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PASSED (100%)</a:t>
                      </a:r>
                      <a:br/>
                      <a:r>
                        <a:t>Valid signatures transition order to CONFIRMED. Altered signatures reject with HTTP 400 Bad Request (urn:smartcart:error:payment-declined).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MILESTONES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Conclusion and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WHAT THE TEAM COMPLETED</a:t>
            </a:r>
          </a:p>
          <a:p>
            <a:pPr>
              <a:spcAft>
                <a:spcPts val="1200"/>
              </a:spcAft>
              <a:defRPr b="1" sz="1150">
                <a:solidFill>
                  <a:srgbClr val="0F172A"/>
                </a:solidFill>
                <a:latin typeface="Calibri"/>
              </a:defRPr>
            </a:pPr>
            <a:r>
              <a:t>• Autonomous Microservices Architecture: </a:t>
            </a:r>
            <a:r>
              <a:rPr b="0" sz="1100">
                <a:solidFill>
                  <a:srgbClr val="1E293B"/>
                </a:solidFill>
              </a:rPr>
              <a:t>Built and deployed 8 standalone services (Auth, Catalog, Cart, Wishlist, Order Saga, Payment, Notification, API Gateway) with isolated database schemas.</a:t>
            </a:r>
          </a:p>
          <a:p>
            <a:pPr>
              <a:spcAft>
                <a:spcPts val="1200"/>
              </a:spcAft>
              <a:defRPr b="1" sz="1150">
                <a:solidFill>
                  <a:srgbClr val="0F172A"/>
                </a:solidFill>
                <a:latin typeface="Calibri"/>
              </a:defRPr>
            </a:pPr>
            <a:r>
              <a:t>• End-to-End E-Commerce Workflows: </a:t>
            </a:r>
            <a:r>
              <a:rPr b="0" sz="1100">
                <a:solidFill>
                  <a:srgbClr val="1E293B"/>
                </a:solidFill>
              </a:rPr>
              <a:t>Full product catalog with dynamic ETag caching (304), server-authoritative cart calculation, coupon promotion engine, and 30-day return workflows.</a:t>
            </a:r>
          </a:p>
          <a:p>
            <a:pPr>
              <a:spcAft>
                <a:spcPts val="1200"/>
              </a:spcAft>
              <a:defRPr b="1" sz="1150">
                <a:solidFill>
                  <a:srgbClr val="0F172A"/>
                </a:solidFill>
                <a:latin typeface="Calibri"/>
              </a:defRPr>
            </a:pPr>
            <a:r>
              <a:t>• Production Payment &amp; Edge Hardening: </a:t>
            </a:r>
            <a:r>
              <a:rPr b="0" sz="1100">
                <a:solidFill>
                  <a:srgbClr val="1E293B"/>
                </a:solidFill>
              </a:rPr>
              <a:t>Completed Razorpay standard checkout integration in Paise, HMAC-SHA256 signature verification, durable MySQL idempotency, rate limiting, and RFC 7807 errors.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54480"/>
            <a:ext cx="512064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1E3A8A"/>
                </a:solidFill>
                <a:latin typeface="Calibri"/>
              </a:defRPr>
            </a:pPr>
            <a:r>
              <a:t>WHAT COMES NEXT</a:t>
            </a:r>
          </a:p>
          <a:p>
            <a:pPr>
              <a:spcAft>
                <a:spcPts val="1200"/>
              </a:spcAft>
              <a:defRPr b="1" sz="1150">
                <a:solidFill>
                  <a:srgbClr val="0F172A"/>
                </a:solidFill>
                <a:latin typeface="Calibri"/>
              </a:defRPr>
            </a:pPr>
            <a:r>
              <a:t>• Asynchronous Message Broker Integration: </a:t>
            </a:r>
            <a:r>
              <a:rPr b="0" sz="1100">
                <a:solidFill>
                  <a:srgbClr val="1E293B"/>
                </a:solidFill>
              </a:rPr>
              <a:t>Transition cross-service communication from synchronous HTTP/REST to an event-driven pub/sub architecture using RabbitMQ or Apache Kafka.</a:t>
            </a:r>
          </a:p>
          <a:p>
            <a:pPr>
              <a:spcAft>
                <a:spcPts val="1200"/>
              </a:spcAft>
              <a:defRPr b="1" sz="1150">
                <a:solidFill>
                  <a:srgbClr val="0F172A"/>
                </a:solidFill>
                <a:latin typeface="Calibri"/>
              </a:defRPr>
            </a:pPr>
            <a:r>
              <a:t>• Multi-Channel Logistics Webhooks: </a:t>
            </a:r>
            <a:r>
              <a:rPr b="0" sz="1100">
                <a:solidFill>
                  <a:srgbClr val="1E293B"/>
                </a:solidFill>
              </a:rPr>
              <a:t>Integrate third-party carrier APIs (Shiprocket / Bluedart) for automated live GPS parcel tracking webhooks instead of manual status advancement.</a:t>
            </a:r>
          </a:p>
          <a:p>
            <a:pPr>
              <a:spcAft>
                <a:spcPts val="1200"/>
              </a:spcAft>
              <a:defRPr b="1" sz="1150">
                <a:solidFill>
                  <a:srgbClr val="0F172A"/>
                </a:solidFill>
                <a:latin typeface="Calibri"/>
              </a:defRPr>
            </a:pPr>
            <a:r>
              <a:t>• Multi-Channel SMS Alerts &amp; Search AI: </a:t>
            </a:r>
            <a:r>
              <a:rPr b="0" sz="1100">
                <a:solidFill>
                  <a:srgbClr val="1E293B"/>
                </a:solidFill>
              </a:rPr>
              <a:t>Add SMS dispatch via Twilio alongside email alerts, and integrate vector-based AI search for natural language product discovery.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F172A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563EB"/>
                </a:solidFill>
                <a:latin typeface="Calibri"/>
              </a:defRPr>
            </a:pPr>
            <a:r>
              <a:t>Questions &amp; Answers / Technical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3474720"/>
            <a:ext cx="6705295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0" y="3657600"/>
            <a:ext cx="6156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200">
                <a:solidFill>
                  <a:srgbClr val="0F172A"/>
                </a:solidFill>
              </a:defRPr>
            </a:pPr>
            <a:r>
              <a:t>SmartCart Project Deliverables &amp; Repository: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GitHub: https://github.com/Ayush17314/SmartCart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Engineering Team: Group 03 (TeamID 03) — Ayush Dubey</a:t>
            </a:r>
          </a:p>
          <a:p>
            <a:pPr>
              <a:defRPr b="1" sz="1100">
                <a:solidFill>
                  <a:srgbClr val="64748B"/>
                </a:solidFill>
              </a:defRPr>
            </a:pPr>
            <a:r>
              <a:t>• IIIT Vadodara  |  CS 545 Software Engineering  |  Autumn 2026-27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